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Spending</c:v>
                </c:pt>
              </c:strCache>
            </c:strRef>
          </c:tx>
          <c:spPr>
            <a:solidFill>
              <a:srgbClr val="1C33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C33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33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33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33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78B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335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335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15000</c:v>
                </c:pt>
                <c:pt idx="1">
                  <c:v>18000</c:v>
                </c:pt>
                <c:pt idx="2">
                  <c:v>12000</c:v>
                </c:pt>
                <c:pt idx="3">
                  <c:v>24000</c:v>
                </c:pt>
                <c:pt idx="4">
                  <c:v>19000</c:v>
                </c:pt>
                <c:pt idx="5">
                  <c:v>16000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C33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47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474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335C"/>
              </a:solidFill>
              <a:effectLst/>
            </c:spPr>
          </c:dPt>
          <c:dPt>
            <c:idx val="1"/>
            <c:bubble3D val="0"/>
            <c:spPr>
              <a:solidFill>
                <a:srgbClr val="0078BB"/>
              </a:solidFill>
              <a:effectLst/>
            </c:spPr>
          </c:dPt>
          <c:dPt>
            <c:idx val="2"/>
            <c:bubble3D val="0"/>
            <c:spPr>
              <a:solidFill>
                <a:srgbClr val="98A3A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Software</c:v>
                </c:pt>
                <c:pt idx="1">
                  <c:v>Hardware</c:v>
                </c:pt>
                <c:pt idx="2">
                  <c:v>Office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44474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3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21D46"/>
          </a:solidFill>
          <a:ln w="12700">
            <a:solidFill>
              <a:srgbClr val="021D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64008" cy="5143500"/>
          </a:xfrm>
          <a:prstGeom prst="rect">
            <a:avLst/>
          </a:prstGeom>
          <a:solidFill>
            <a:srgbClr val="0078BB"/>
          </a:solidFill>
          <a:ln w="12700">
            <a:solidFill>
              <a:srgbClr val="0078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0080"/>
            <a:ext cx="640080" cy="640080"/>
          </a:xfrm>
          <a:prstGeom prst="ellipse">
            <a:avLst/>
          </a:prstGeom>
          <a:solidFill>
            <a:srgbClr val="0078BB"/>
          </a:solidFill>
          <a:ln w="12700">
            <a:solidFill>
              <a:srgbClr val="0078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invoxa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98448" y="9784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7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Decisions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· Typography · Charts · Spacing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640080"/>
            <a:ext cx="4663440" cy="1143000"/>
          </a:xfrm>
          <a:prstGeom prst="rect">
            <a:avLst>
              <a:gd name="adj" fmla="val 6400"/>
            </a:avLst>
          </a:prstGeom>
          <a:solidFill>
            <a:srgbClr val="1C3560"/>
          </a:solidFill>
          <a:ln w="12700">
            <a:solidFill>
              <a:srgbClr val="2A45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932688"/>
            <a:ext cx="457200" cy="457200"/>
          </a:xfrm>
          <a:prstGeom prst="ellipse">
            <a:avLst/>
          </a:prstGeom>
          <a:solidFill>
            <a:srgbClr val="0078BB"/>
          </a:solidFill>
          <a:ln w="12700">
            <a:solidFill>
              <a:srgbClr val="0078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822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Blues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115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+ Action Blue palette built for financial credibility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06240" y="2057400"/>
            <a:ext cx="4663440" cy="1143000"/>
          </a:xfrm>
          <a:prstGeom prst="rect">
            <a:avLst>
              <a:gd name="adj" fmla="val 6400"/>
            </a:avLst>
          </a:prstGeom>
          <a:solidFill>
            <a:srgbClr val="1C3560"/>
          </a:solidFill>
          <a:ln w="12700">
            <a:solidFill>
              <a:srgbClr val="2A45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2350008"/>
            <a:ext cx="457200" cy="457200"/>
          </a:xfrm>
          <a:prstGeom prst="ellipse">
            <a:avLst/>
          </a:prstGeom>
          <a:solidFill>
            <a:srgbClr val="0078BB"/>
          </a:solidFill>
          <a:ln w="12700">
            <a:solidFill>
              <a:srgbClr val="0078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240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Only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5328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geometric sans-serif across every text level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06240" y="3474720"/>
            <a:ext cx="4663440" cy="1143000"/>
          </a:xfrm>
          <a:prstGeom prst="rect">
            <a:avLst>
              <a:gd name="adj" fmla="val 6400"/>
            </a:avLst>
          </a:prstGeom>
          <a:solidFill>
            <a:srgbClr val="1C3560"/>
          </a:solidFill>
          <a:ln w="12700">
            <a:solidFill>
              <a:srgbClr val="2A45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767328"/>
            <a:ext cx="457200" cy="457200"/>
          </a:xfrm>
          <a:prstGeom prst="ellipse">
            <a:avLst/>
          </a:prstGeom>
          <a:solidFill>
            <a:srgbClr val="0078BB"/>
          </a:solidFill>
          <a:ln w="12700">
            <a:solidFill>
              <a:srgbClr val="0078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657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Tonal Depth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39502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via color layers, not heavy drop shadows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1D46"/>
          </a:solidFill>
          <a:ln w="12700">
            <a:solidFill>
              <a:srgbClr val="021D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64B7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Precision  ·  Financial UX Design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335C"/>
          </a:solidFill>
          <a:ln w="12700">
            <a:solidFill>
              <a:srgbClr val="1C3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300" kern="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COLORS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"Trust Blues" — a disciplined palette anchored in institutional confidence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097280" cy="1371600"/>
          </a:xfrm>
          <a:prstGeom prst="rect">
            <a:avLst>
              <a:gd name="adj" fmla="val 5833"/>
            </a:avLst>
          </a:prstGeom>
          <a:solidFill>
            <a:srgbClr val="021D46"/>
          </a:solidFill>
          <a:ln w="12700">
            <a:solidFill>
              <a:srgbClr val="021D46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011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#021D46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82880" y="23957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82880" y="25877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&amp; Nav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508760" y="1005840"/>
            <a:ext cx="1097280" cy="1371600"/>
          </a:xfrm>
          <a:prstGeom prst="rect">
            <a:avLst>
              <a:gd name="adj" fmla="val 5833"/>
            </a:avLst>
          </a:prstGeom>
          <a:solidFill>
            <a:srgbClr val="1C335C"/>
          </a:solidFill>
          <a:ln w="12700">
            <a:solidFill>
              <a:srgbClr val="1C335C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08760" y="2011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#1C335C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417320" y="23957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Container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17320" y="25877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&amp; Anchors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43200" y="1005840"/>
            <a:ext cx="1097280" cy="1371600"/>
          </a:xfrm>
          <a:prstGeom prst="rect">
            <a:avLst>
              <a:gd name="adj" fmla="val 5833"/>
            </a:avLst>
          </a:prstGeom>
          <a:solidFill>
            <a:srgbClr val="0078BB"/>
          </a:solidFill>
          <a:ln w="12700">
            <a:solidFill>
              <a:srgbClr val="0078BB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0" y="2011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#0078BB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651760" y="23957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(Action)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651760" y="25877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&amp; Links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977640" y="1005840"/>
            <a:ext cx="1097280" cy="1371600"/>
          </a:xfrm>
          <a:prstGeom prst="rect">
            <a:avLst>
              <a:gd name="adj" fmla="val 5833"/>
            </a:avLst>
          </a:prstGeom>
          <a:solidFill>
            <a:srgbClr val="64B7FE"/>
          </a:solidFill>
          <a:ln w="12700">
            <a:solidFill>
              <a:srgbClr val="64B7FE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77640" y="2011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#64B7FE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886200" y="23957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Container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86200" y="25877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States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212080" y="1005840"/>
            <a:ext cx="1097280" cy="1371600"/>
          </a:xfrm>
          <a:prstGeom prst="rect">
            <a:avLst>
              <a:gd name="adj" fmla="val 5833"/>
            </a:avLst>
          </a:prstGeom>
          <a:solidFill>
            <a:srgbClr val="98A3A9"/>
          </a:solidFill>
          <a:ln w="12700">
            <a:solidFill>
              <a:srgbClr val="98A3A9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12080" y="2011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#98A3A9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120640" y="23957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Gray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120640" y="25877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Borders &amp; Icons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446520" y="1005840"/>
            <a:ext cx="1097280" cy="1371600"/>
          </a:xfrm>
          <a:prstGeom prst="rect">
            <a:avLst>
              <a:gd name="adj" fmla="val 5833"/>
            </a:avLst>
          </a:prstGeom>
          <a:solidFill>
            <a:srgbClr val="F7FAFE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46520" y="2011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#F7FAFE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355080" y="23957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355080" y="25877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680960" y="1005840"/>
            <a:ext cx="1097280" cy="1371600"/>
          </a:xfrm>
          <a:prstGeom prst="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80960" y="2011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589520" y="23957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589520" y="25877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65760" y="2926080"/>
            <a:ext cx="4297680" cy="868680"/>
          </a:xfrm>
          <a:prstGeom prst="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2926080"/>
            <a:ext cx="64008" cy="868680"/>
          </a:xfrm>
          <a:prstGeom prst="rect">
            <a:avLst/>
          </a:prstGeom>
          <a:solidFill>
            <a:srgbClr val="021D46"/>
          </a:solidFill>
          <a:ln w="12700">
            <a:solidFill>
              <a:srgbClr val="021D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9992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 #021D46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32186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the anchor color. Used in primary navigation, logo, and key headings. Signals authority and institutional trust — critical for a financial management product.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5760" y="3931920"/>
            <a:ext cx="4297680" cy="868680"/>
          </a:xfrm>
          <a:prstGeom prst="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3931920"/>
            <a:ext cx="64008" cy="868680"/>
          </a:xfrm>
          <a:prstGeom prst="rect">
            <a:avLst/>
          </a:prstGeom>
          <a:solidFill>
            <a:srgbClr val="0078BB"/>
          </a:solidFill>
          <a:ln w="12700">
            <a:solidFill>
              <a:srgbClr val="0078B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0050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Blue #0078BB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" y="42245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exclusively for interactive elements: CTA buttons, active nav states, and hyperlinks. High contrast against white ensures WCAG AA compliance.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46320" y="2926080"/>
            <a:ext cx="4297680" cy="868680"/>
          </a:xfrm>
          <a:prstGeom prst="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46320" y="2926080"/>
            <a:ext cx="64008" cy="868680"/>
          </a:xfrm>
          <a:prstGeom prst="rect">
            <a:avLst/>
          </a:prstGeom>
          <a:solidFill>
            <a:srgbClr val="98A3A9"/>
          </a:solidFill>
          <a:ln w="12700">
            <a:solidFill>
              <a:srgbClr val="98A3A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29992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Gray #98A3A9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029200" y="32186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borders, disabled states, and secondary icons. Its cool undertone harmonizes with the blue palette rather than clashing, keeping the UI calm.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46320" y="3931920"/>
            <a:ext cx="4297680" cy="868680"/>
          </a:xfrm>
          <a:prstGeom prst="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46320" y="3931920"/>
            <a:ext cx="64008" cy="868680"/>
          </a:xfrm>
          <a:prstGeom prst="rect">
            <a:avLst/>
          </a:prstGeom>
          <a:solidFill>
            <a:srgbClr val="C4C6D0"/>
          </a:solidFill>
          <a:ln w="12700">
            <a:solidFill>
              <a:srgbClr val="C4C6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40050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Background #F7FAFE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029200" y="42245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Marginally warmer than pure white, this soft blue-gray canvas reduces eye strain during long sessions while keeping the interface feeling light and airy.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335C"/>
          </a:solidFill>
          <a:ln w="12700">
            <a:solidFill>
              <a:srgbClr val="1C3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300" kern="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TYPOGRAPHY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font family. Seven levels. Total visual hierarchy.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834640" cy="3840480"/>
          </a:xfrm>
          <a:prstGeom prst="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2834640" cy="292608"/>
          </a:xfrm>
          <a:prstGeom prst="rect">
            <a:avLst>
              <a:gd name="adj" fmla="val 18750"/>
            </a:avLst>
          </a:prstGeom>
          <a:solidFill>
            <a:srgbClr val="1C335C"/>
          </a:solidFill>
          <a:ln w="12700">
            <a:solidFill>
              <a:srgbClr val="1C33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784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POPPINS?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256032" cy="256032"/>
          </a:xfrm>
          <a:prstGeom prst="ellipse">
            <a:avLst/>
          </a:prstGeom>
          <a:solidFill>
            <a:srgbClr val="0078BB"/>
          </a:solidFill>
          <a:ln w="12700">
            <a:solidFill>
              <a:srgbClr val="0078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71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41248" y="13533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1554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circular forms reinforce the digital-native, data-first personality of the app.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2176272"/>
            <a:ext cx="256032" cy="256032"/>
          </a:xfrm>
          <a:prstGeom prst="ellipse">
            <a:avLst/>
          </a:prstGeom>
          <a:solidFill>
            <a:srgbClr val="0078BB"/>
          </a:solidFill>
          <a:ln w="12700">
            <a:solidFill>
              <a:srgbClr val="0078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762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41248" y="215798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41248" y="23591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screen readability at small sizes — vital for dense invoice tables.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2980944"/>
            <a:ext cx="256032" cy="256032"/>
          </a:xfrm>
          <a:prstGeom prst="ellipse">
            <a:avLst/>
          </a:prstGeom>
          <a:solidFill>
            <a:srgbClr val="0078BB"/>
          </a:solidFill>
          <a:ln w="12700">
            <a:solidFill>
              <a:srgbClr val="0078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809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1248" y="296265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1248" y="316382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Semi-bold and bold weights feel structured and professional without being cold.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3785616"/>
            <a:ext cx="256032" cy="256032"/>
          </a:xfrm>
          <a:prstGeom prst="ellipse">
            <a:avLst/>
          </a:prstGeom>
          <a:solidFill>
            <a:srgbClr val="0078BB"/>
          </a:solidFill>
          <a:ln w="12700">
            <a:solidFill>
              <a:srgbClr val="0078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85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" y="37673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41248" y="396849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font family eliminates pairing decisions and maintains visual harmony across all components.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74720" y="960120"/>
            <a:ext cx="5303520" cy="3840480"/>
          </a:xfrm>
          <a:prstGeom prst="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0" y="1051560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007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SCALE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0" y="1344168"/>
            <a:ext cx="29260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XL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675120" y="138074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8A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40px / 700 / –0.02em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657600" y="1874520"/>
            <a:ext cx="4937760" cy="0"/>
          </a:xfrm>
          <a:prstGeom prst="line">
            <a:avLst/>
          </a:prstGeom>
          <a:noFill/>
          <a:ln w="6350">
            <a:solidFill>
              <a:srgbClr val="C4C6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191109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LG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675120" y="1947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8A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32px / 600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657600" y="2441448"/>
            <a:ext cx="4937760" cy="0"/>
          </a:xfrm>
          <a:prstGeom prst="line">
            <a:avLst/>
          </a:prstGeom>
          <a:noFill/>
          <a:ln w="6350">
            <a:solidFill>
              <a:srgbClr val="C4C6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247802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675120" y="25146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8A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24px / 600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657600" y="3008376"/>
            <a:ext cx="4937760" cy="0"/>
          </a:xfrm>
          <a:prstGeom prst="line">
            <a:avLst/>
          </a:prstGeom>
          <a:noFill/>
          <a:ln w="6350">
            <a:solidFill>
              <a:srgbClr val="C4C6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30449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75120" y="30815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8A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16px / 400 — main content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57600" y="3575304"/>
            <a:ext cx="4937760" cy="0"/>
          </a:xfrm>
          <a:prstGeom prst="line">
            <a:avLst/>
          </a:prstGeom>
          <a:noFill/>
          <a:ln w="6350">
            <a:solidFill>
              <a:srgbClr val="C4C6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3611880"/>
            <a:ext cx="2926080" cy="186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675120" y="364845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8A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14px / 600 / +0.05em — chips &amp; tags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657600" y="4142232"/>
            <a:ext cx="4937760" cy="0"/>
          </a:xfrm>
          <a:prstGeom prst="line">
            <a:avLst/>
          </a:prstGeom>
          <a:noFill/>
          <a:ln w="6350">
            <a:solidFill>
              <a:srgbClr val="C4C6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0" y="417880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SM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675120" y="421538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8A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14px / 400 — tables &amp; metadata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335C"/>
          </a:solidFill>
          <a:ln w="12700">
            <a:solidFill>
              <a:srgbClr val="1C3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300" kern="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CHARTS &amp; DATA VIZ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Data Visualization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chart design choices reinforce financial clarity and reduce cognitive load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389120" cy="2331720"/>
          </a:xfrm>
          <a:prstGeom prst="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515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SPENDING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280160"/>
          <a:ext cx="43891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937760" y="960120"/>
            <a:ext cx="3840480" cy="2331720"/>
          </a:xfrm>
          <a:prstGeom prst="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20640" y="10515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BY CATEGORY</a:t>
            </a:r>
            <a:endParaRPr lang="en-US" sz="8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4937760" y="1234440"/>
          <a:ext cx="384048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65760" y="3456432"/>
            <a:ext cx="205740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02920" y="3593592"/>
            <a:ext cx="320040" cy="320040"/>
          </a:xfrm>
          <a:prstGeom prst="ellipse">
            <a:avLst/>
          </a:prstGeom>
          <a:solidFill>
            <a:srgbClr val="1C335C"/>
          </a:solidFill>
          <a:ln w="12700">
            <a:solidFill>
              <a:srgbClr val="1C335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3593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93776" y="3986784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Blue-Scale Categorical Palette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93776" y="4279392"/>
            <a:ext cx="1801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use #1C335C → #0078BB → #98A3A9. A single-hue progression prevents color noise and aligns data colors with brand identity.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2542032" y="3456432"/>
            <a:ext cx="205740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679192" y="3593592"/>
            <a:ext cx="320040" cy="320040"/>
          </a:xfrm>
          <a:prstGeom prst="ellipse">
            <a:avLst/>
          </a:prstGeom>
          <a:solidFill>
            <a:srgbClr val="1C335C"/>
          </a:solidFill>
          <a:ln w="12700">
            <a:solidFill>
              <a:srgbClr val="1C335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679192" y="3593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▬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670048" y="3986784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Grid Lines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2670048" y="4279392"/>
            <a:ext cx="1801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horizontal value-axis lines in #E5E8EC. Zero vertical lines. Reduces visual clutter so users focus on the data bars, not the grid.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4718304" y="3456432"/>
            <a:ext cx="205740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855464" y="3593592"/>
            <a:ext cx="320040" cy="320040"/>
          </a:xfrm>
          <a:prstGeom prst="ellipse">
            <a:avLst/>
          </a:prstGeom>
          <a:solidFill>
            <a:srgbClr val="1C335C"/>
          </a:solidFill>
          <a:ln w="12700">
            <a:solidFill>
              <a:srgbClr val="1C335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55464" y="3593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846320" y="3986784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Bar Highlight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4846320" y="4279392"/>
            <a:ext cx="1801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peak month (Apr) is highlighted in Action Blue #0078BB while other bars stay Navy. Directs attention without needing an annotation.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6894576" y="3456432"/>
            <a:ext cx="205740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7031736" y="3593592"/>
            <a:ext cx="320040" cy="320040"/>
          </a:xfrm>
          <a:prstGeom prst="ellipse">
            <a:avLst/>
          </a:prstGeom>
          <a:solidFill>
            <a:srgbClr val="1C335C"/>
          </a:solidFill>
          <a:ln w="12700">
            <a:solidFill>
              <a:srgbClr val="1C33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031736" y="3593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7022592" y="3986784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Doughnut over Pie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7022592" y="4279392"/>
            <a:ext cx="1801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hollow center hosts the key percentage stat, making the chart scannable in one glance — essential for a financial dashboard widget.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335C"/>
          </a:solidFill>
          <a:ln w="12700">
            <a:solidFill>
              <a:srgbClr val="1C3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097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300" kern="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ELEVATION &amp; SPACING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&amp; Spacing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Tonal layers, 4px baseline grid, and disciplined whitespace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931920" cy="3840480"/>
          </a:xfrm>
          <a:prstGeom prst="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698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7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SYSTEM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through color, not heavy shadows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3566160" cy="868680"/>
          </a:xfrm>
          <a:prstGeom prst="rect">
            <a:avLst>
              <a:gd name="adj" fmla="val 7368"/>
            </a:avLst>
          </a:prstGeom>
          <a:solidFill>
            <a:srgbClr val="F7FAFE"/>
          </a:solidFill>
          <a:ln w="9525">
            <a:solidFill>
              <a:srgbClr val="C4C6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C4C6D0"/>
          </a:solidFill>
          <a:ln w="12700">
            <a:solidFill>
              <a:srgbClr val="C4C6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6642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— Background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19019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#F7FAFE  ·  The outer canvas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3566160" cy="868680"/>
          </a:xfrm>
          <a:prstGeom prst="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606040"/>
            <a:ext cx="54864" cy="868680"/>
          </a:xfrm>
          <a:prstGeom prst="rect">
            <a:avLst/>
          </a:prstGeom>
          <a:solidFill>
            <a:srgbClr val="1C335C"/>
          </a:solidFill>
          <a:ln w="12700">
            <a:solidFill>
              <a:srgbClr val="1C33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7157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Cards / Surfaces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3232" y="29535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 + 1px border at 20% opacity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3566160" cy="868680"/>
          </a:xfrm>
          <a:prstGeom prst="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228600" dist="50800" dir="8100000">
              <a:srgbClr val="1C335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657600"/>
            <a:ext cx="54864" cy="868680"/>
          </a:xfrm>
          <a:prstGeom prst="rect">
            <a:avLst/>
          </a:prstGeom>
          <a:solidFill>
            <a:srgbClr val="0078BB"/>
          </a:solidFill>
          <a:ln w="12700">
            <a:solidFill>
              <a:srgbClr val="0078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76732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Dropdowns / Modals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13232" y="40050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 + ambient shadow (0px 4px 20px navy 8%)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480560" y="960120"/>
            <a:ext cx="4297680" cy="3840480"/>
          </a:xfrm>
          <a:prstGeom prst="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10698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7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SYSTEM  ·  4px BASE GRID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63440" y="126187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spacing is a multiple of 4px for optical consistency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1645920"/>
            <a:ext cx="91440" cy="256032"/>
          </a:xfrm>
          <a:prstGeom prst="rect">
            <a:avLst>
              <a:gd name="adj" fmla="val 30000"/>
            </a:avLst>
          </a:prstGeom>
          <a:solidFill>
            <a:srgbClr val="98A3A9"/>
          </a:solidFill>
          <a:ln w="12700">
            <a:solidFill>
              <a:srgbClr val="98A3A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16276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  4px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18288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gaps, tight insets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2157984"/>
            <a:ext cx="201168" cy="256032"/>
          </a:xfrm>
          <a:prstGeom prst="rect">
            <a:avLst>
              <a:gd name="adj" fmla="val 13636"/>
            </a:avLst>
          </a:prstGeom>
          <a:solidFill>
            <a:srgbClr val="98A3A9"/>
          </a:solidFill>
          <a:ln w="12700">
            <a:solidFill>
              <a:srgbClr val="98A3A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74336" y="21396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 8px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74336" y="234086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field padding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63440" y="2670048"/>
            <a:ext cx="402336" cy="256032"/>
          </a:xfrm>
          <a:prstGeom prst="rect">
            <a:avLst>
              <a:gd name="adj" fmla="val 10714"/>
            </a:avLst>
          </a:prstGeom>
          <a:solidFill>
            <a:srgbClr val="0078BB"/>
          </a:solidFill>
          <a:ln w="12700">
            <a:solidFill>
              <a:srgbClr val="0078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75504" y="26517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 16px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75504" y="28529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fields (primary gap)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63440" y="3182112"/>
            <a:ext cx="603504" cy="256032"/>
          </a:xfrm>
          <a:prstGeom prst="rect">
            <a:avLst>
              <a:gd name="adj" fmla="val 10714"/>
            </a:avLst>
          </a:prstGeom>
          <a:solidFill>
            <a:srgbClr val="1C335C"/>
          </a:solidFill>
          <a:ln w="12700">
            <a:solidFill>
              <a:srgbClr val="1C33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76672" y="3163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 24px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76672" y="33649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gutters &amp; layout gaps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63440" y="3694176"/>
            <a:ext cx="804672" cy="256032"/>
          </a:xfrm>
          <a:prstGeom prst="rect">
            <a:avLst>
              <a:gd name="adj" fmla="val 10714"/>
            </a:avLst>
          </a:prstGeom>
          <a:solidFill>
            <a:srgbClr val="1C335C"/>
          </a:solidFill>
          <a:ln w="12700">
            <a:solidFill>
              <a:srgbClr val="1C33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36758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  32px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77840" y="387705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margins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663440" y="4206240"/>
            <a:ext cx="1097280" cy="256032"/>
          </a:xfrm>
          <a:prstGeom prst="rect">
            <a:avLst>
              <a:gd name="adj" fmla="val 10714"/>
            </a:avLst>
          </a:prstGeom>
          <a:solidFill>
            <a:srgbClr val="021D46"/>
          </a:solidFill>
          <a:ln w="12700">
            <a:solidFill>
              <a:srgbClr val="021D4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70448" y="41879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2XL 48px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70448" y="43891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padding &amp; hero gaps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4864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7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LANGUAGE  ·  SOFT LEVEL 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8640" y="4800600"/>
            <a:ext cx="1920240" cy="256032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C33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800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4px  ·  Buttons &amp; Inputs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651760" y="4800600"/>
            <a:ext cx="1920240" cy="256032"/>
          </a:xfrm>
          <a:prstGeom prst="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1C33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51760" y="4800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8px  ·  Cards &amp; Modals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54880" y="4800600"/>
            <a:ext cx="1920240" cy="256032"/>
          </a:xfrm>
          <a:prstGeom prst="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1C33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4800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12px  ·  Hero Modules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858000" y="4800600"/>
            <a:ext cx="1920240" cy="256032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1C33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0" y="4800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 ·  Chip / Pill Tags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8BB"/>
          </a:solidFill>
          <a:ln w="12700">
            <a:solidFill>
              <a:srgbClr val="0078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2194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define the Invoxa design system: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2606040"/>
            <a:ext cx="4114800" cy="640080"/>
          </a:xfrm>
          <a:prstGeom prst="rect">
            <a:avLst>
              <a:gd name="adj" fmla="val 10000"/>
            </a:avLst>
          </a:prstGeom>
          <a:solidFill>
            <a:srgbClr val="1C3560"/>
          </a:solidFill>
          <a:ln w="12700">
            <a:solidFill>
              <a:srgbClr val="2A4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267919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66090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through Color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7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and Action Blue communicate financial authority. Every hue earns its place — no decorative color added without purpose.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3355848"/>
            <a:ext cx="4114800" cy="640080"/>
          </a:xfrm>
          <a:prstGeom prst="rect">
            <a:avLst>
              <a:gd name="adj" fmla="val 10000"/>
            </a:avLst>
          </a:prstGeom>
          <a:solidFill>
            <a:srgbClr val="1C3560"/>
          </a:solidFill>
          <a:ln w="12700">
            <a:solidFill>
              <a:srgbClr val="2A4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4290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41071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through Type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36301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7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alone, seven levels, tight hierarchy. Users always know at a glance what they're looking at: title, value, or label.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4105656"/>
            <a:ext cx="4114800" cy="640080"/>
          </a:xfrm>
          <a:prstGeom prst="rect">
            <a:avLst>
              <a:gd name="adj" fmla="val 10000"/>
            </a:avLst>
          </a:prstGeom>
          <a:solidFill>
            <a:srgbClr val="1C3560"/>
          </a:solidFill>
          <a:ln w="12700">
            <a:solidFill>
              <a:srgbClr val="2A4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417880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1605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through Layers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43799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7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Tonal background-to-white contrast replaces heavy shadows. UI feels structured and calm — never visually overwhelming.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0" y="457200"/>
            <a:ext cx="3749040" cy="4389120"/>
          </a:xfrm>
          <a:prstGeom prst="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C4C6D0"/>
            </a:solidFill>
            <a:prstDash val="solid"/>
          </a:ln>
          <a:effectLst>
            <a:outerShdw sx="100000" sy="100000" kx="0" ky="0" algn="bl" rotWithShape="0" blurRad="127000" dist="38100" dir="8100000">
              <a:srgbClr val="1C335C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0" y="457200"/>
            <a:ext cx="3749040" cy="347472"/>
          </a:xfrm>
          <a:prstGeom prst="rect">
            <a:avLst>
              <a:gd name="adj" fmla="val 18421"/>
            </a:avLst>
          </a:prstGeom>
          <a:solidFill>
            <a:srgbClr val="1C335C"/>
          </a:solidFill>
          <a:ln w="12700">
            <a:solidFill>
              <a:srgbClr val="1C33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475488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SPECIFICATIONS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66360" y="9326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09360" y="9326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#021D46  ·  #1C335C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66360" y="1307592"/>
            <a:ext cx="3474720" cy="0"/>
          </a:xfrm>
          <a:prstGeom prst="line">
            <a:avLst/>
          </a:prstGeom>
          <a:noFill/>
          <a:ln w="6350">
            <a:solidFill>
              <a:srgbClr val="C4C6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13624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13624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#0078BB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166360" y="1737360"/>
            <a:ext cx="3474720" cy="0"/>
          </a:xfrm>
          <a:prstGeom prst="line">
            <a:avLst/>
          </a:prstGeom>
          <a:noFill/>
          <a:ln w="6350">
            <a:solidFill>
              <a:srgbClr val="C4C6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17922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09360" y="17922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#98A3A9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66360" y="2167128"/>
            <a:ext cx="3474720" cy="0"/>
          </a:xfrm>
          <a:prstGeom prst="line">
            <a:avLst/>
          </a:prstGeom>
          <a:noFill/>
          <a:ln w="6350">
            <a:solidFill>
              <a:srgbClr val="C4C6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221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9360" y="2221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#F7FAFE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166360" y="2596896"/>
            <a:ext cx="3474720" cy="0"/>
          </a:xfrm>
          <a:prstGeom prst="line">
            <a:avLst/>
          </a:prstGeom>
          <a:noFill/>
          <a:ln w="6350">
            <a:solidFill>
              <a:srgbClr val="C4C6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0936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(400 / 600 / 700)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166360" y="3026664"/>
            <a:ext cx="3474720" cy="0"/>
          </a:xfrm>
          <a:prstGeom prst="line">
            <a:avLst/>
          </a:prstGeom>
          <a:noFill/>
          <a:ln w="6350">
            <a:solidFill>
              <a:srgbClr val="C4C6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3081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09360" y="3081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4px baseline  ·  1280px max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166360" y="3456432"/>
            <a:ext cx="3474720" cy="0"/>
          </a:xfrm>
          <a:prstGeom prst="line">
            <a:avLst/>
          </a:prstGeom>
          <a:noFill/>
          <a:ln w="6350">
            <a:solidFill>
              <a:srgbClr val="C4C6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5112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09360" y="3511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4px  ·  8px  ·  12px  ·  pill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166360" y="3886200"/>
            <a:ext cx="3474720" cy="0"/>
          </a:xfrm>
          <a:prstGeom prst="line">
            <a:avLst/>
          </a:prstGeom>
          <a:noFill/>
          <a:ln w="6350">
            <a:solidFill>
              <a:srgbClr val="C4C6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39410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09360" y="39410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→ Blue → Gray scale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64B7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invoxa  ·  Management Pro  ·  Design System Rationale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Invoxa Design System</dc:title>
  <dc:subject>PptxGenJS Presentation</dc:subject>
  <dc:creator>PptxGenJS</dc:creator>
  <cp:lastModifiedBy>PptxGenJS</cp:lastModifiedBy>
  <cp:revision>1</cp:revision>
  <dcterms:created xsi:type="dcterms:W3CDTF">2026-06-05T09:06:55Z</dcterms:created>
  <dcterms:modified xsi:type="dcterms:W3CDTF">2026-06-05T09:06:55Z</dcterms:modified>
</cp:coreProperties>
</file>